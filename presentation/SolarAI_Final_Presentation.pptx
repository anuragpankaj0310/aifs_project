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371600"/>
            <a:ext cx="109728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 i="0">
                <a:solidFill>
                  <a:srgbClr val="0EA5E9"/>
                </a:solidFill>
              </a:rPr>
              <a:t>Building-to-Grid Demand Response Optimization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56032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0" i="0">
                <a:solidFill>
                  <a:srgbClr val="E2E8F0"/>
                </a:solidFill>
              </a:rPr>
              <a:t>via Predictive AI and Dynamic Load Shifting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64748B"/>
                </a:solidFill>
              </a:rPr>
              <a:t>AI for Sustainability Project  |  2024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42976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1">
                <a:solidFill>
                  <a:srgbClr val="64748B"/>
                </a:solidFill>
              </a:rPr>
              <a:t>Solar Plant Data: India (2020)  |  Grid Data: UK/Europe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Problem Statement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Why demand response optimization matters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Buildings consume 40% of global energy — often inefficiently with no coordination.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Renewable generation (solar) is intermittent; grid stress peaks during high-demand hours.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Carbon intensity of grid electricity varies significantly by time-of-day.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Flexible loads (EV charging, HVAC, equipment) can shift consumption to low-cost, low-carbon windows.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Existing approaches lack real-time AI-driven coordination of solar, storage, and demand.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Goal: Predict generation/demand, then optimally schedule loads to minimize cost + emissions.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Motivation &amp; Sustainability Objectives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OBJECTIVE 1: Reduce electricity cost via time-of-use tariff optimization.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OBJECTIVE 2: Lower grid-related carbon emissions using carbon-intensity-aware scheduling.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OBJECTIVE 3: Reduce peak grid demand to lower grid stress and demand charges.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OBJECTIVE 4: Maximize solar self-consumption — use generated renewables on-site.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OBJECTIVE 5: Enable scalable AI/ML forecasting for both solar generation and electricity demand.</a:t>
            </a:r>
          </a:p>
          <a:p>
            <a:pPr>
              <a:spcBef>
                <a:spcPts val="400"/>
              </a:spcBef>
            </a:pPr>
            <a:r>
              <a:rPr sz="1500">
                <a:solidFill>
                  <a:srgbClr val="E2E8F0"/>
                </a:solidFill>
              </a:rPr>
              <a:t>  •  Aligned with: UN SDG 7 (Affordable Clean Energy), SDG 13 (Climate Action).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Dataset Sources &amp; Characteristics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Solar Generation (Plant 1 &amp; 2)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219456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India, May–Jun 2020, 15-min, DC/AC power, inverter-level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97180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Solar Weather Sensors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0" y="297180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Co-located with plants: temperature (°C), irradiation (W/m²)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374903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UK Carbon Emissions (df_fuel_ckan)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0" y="3749039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UK National Grid, 30-min, 2009–present, gCO₂/kWh + fuel mix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526279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ENTSOE Demand (time_series_60min)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0" y="4526279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Europe, hourly, 2015–present, MW load actual/forecast, price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303520"/>
            <a:ext cx="5029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Weather Data (Open Power System)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0" y="5303520"/>
            <a:ext cx="6217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Europe (NASA MERRA-2), hourly, 1980–2019, temp + radiation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F59E0B"/>
                </a:solidFill>
              </a:rPr>
              <a:t>NOTE: Solar (India) and European data are NOT merged geographically. Plant weather sensors used for solar forecasting. UK carbon intensity used as scenario proxy.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Data Engineering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discovery.py: Inspect all 4 folders, generate dataset_inventory.csv + data_quality_report.md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preprocessing.py: Parse timestamps, clip negatives, resample/align, ffill short gaps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validation.py: Schema checks, type coercion, missing-value thresholds, monotonic timestamps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feature_engineering.py: Cyclical time features, lag features (1/2/4/8/96 steps), rolling stats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integration.py: Solar gen + weather sensor (co-located merge), Demand + European weather (UTC)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Chronological splits: 70% train / 15% val / 15% test — NO random shuffling (prevents leakage)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All processed data saved to data/processed/ — originals untouched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System Architecture</a:t>
            </a:r>
          </a:p>
        </p:txBody>
      </p:sp>
      <p:sp>
        <p:nvSpPr>
          <p:cNvPr id="4" name="Rectangle 3"/>
          <p:cNvSpPr/>
          <p:nvPr/>
        </p:nvSpPr>
        <p:spPr>
          <a:xfrm>
            <a:off x="457200" y="21945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48640" y="22402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Raw Data Layer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0" y="224027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4 dataset folders (carbon, demand, solar, weather)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9260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ETL Pipeline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92607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discovery → preprocessing → validation → feature engineering → integration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5661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48640" y="3611879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Forecasting Layer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3611879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Persistence, Ridge, Random Forest, XGBoost, LSTM (optional)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519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42976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Optimization Engine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42976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PuLP LP solver: battery + flex load scheduling, 24-horizon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7200" y="49377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48640" y="49834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Sustainability Module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9834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Cost, carbon, peak demand, renewable utilization calculations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57200" y="5623560"/>
            <a:ext cx="3200400" cy="502920"/>
          </a:xfrm>
          <a:prstGeom prst="rect">
            <a:avLst/>
          </a:prstGeom>
          <a:solidFill>
            <a:srgbClr val="1E293B"/>
          </a:solidFill>
          <a:ln>
            <a:solidFill>
              <a:srgbClr val="0EA5E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548640" y="5669280"/>
            <a:ext cx="30175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0EA5E9"/>
                </a:solidFill>
              </a:rPr>
              <a:t>Dashboard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840480" y="5669280"/>
            <a:ext cx="78638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Streamlit 6-page app: overview, solar, demand, weather, optimization, report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Exploratory Data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Key findings from the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Solar Plant 1: Clear daily generation patterns, peak AC power ~2,900 kW midday.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Solar Plant 2: Higher total yield but more variability — cloud events visible in data.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Irradiation correlation with AC power: Pearson r &gt; 0.97 (dominant driver).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Module temperature shows mild negative correlation at high irradiance (thermal losses).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German electricity demand: clear weekday/weekend pattern; winter peaks ~60–75 GW.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UK carbon intensity: 200–600 gCO₂/kWh range; lowest overnight, highest morning ramp.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Weather data (1980–2019): Germany shows strong radiation seasonality; summer 3x winter.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AI Forecasting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FEATURES: Hour/month/DoW (cyclical sin/cos encoding), irradiation, temperature,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  module temperature, irradiation², irrad×temp interaction,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  AC_POWER lags: t-1, t-2, t-4, t-8, t-96 (1 day back),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  Rolling stats: 1h, 2h, 4h, 24h windows.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MODELS: Persistence (naive baseline), Ridge Regression (regularized linear),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Random Forest (200 trees, min_samples_leaf=3), XGBoost (500 estimators, early stopping).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SPLIT: Chronological — 70% train, 15% validation, 15% test. No data leakage.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METRICS: MAE, RMSE, R², NMAE (normalized). MAPE only when no zeros in actuals.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Model Performance — Actual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Solar Plant 1 (15-min AC Power, kW):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4688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persistence           MAE=1218.7  RMSE=2325.3  R²=0.9200
linear_ridge          MAE=255.4  RMSE=510.8  R²=0.9961
random_forest         MAE=244.1  RMSE=507.1  R²=0.9962
xgboost               MAE=273.3  RMSE=571.0  R²=0.9952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393192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59E0B"/>
                </a:solidFill>
              </a:rPr>
              <a:t>Solar Plant 2 (15-min AC Power, kW):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429768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E2E8F0"/>
                </a:solidFill>
              </a:rPr>
              <a:t>persistence           MAE=1213.2  RMSE=2347.2  R²=0.8264
linear_ridge          MAE=838.2  RMSE=1660.4  R²=0.9132
random_forest         MAE=704.5  RMSE=1694.7  R²=0.9095
xgboost               MAE=712.7  RMSE=1692.0  R²=0.9098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" y="576072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ADE80"/>
                </a:solidFill>
              </a:rPr>
              <a:t>Best model: Random Forest (Plant 1 R²≈0.996, Plant 2 R²≈0.91)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Dynamic Load Optimization (PuLP LP)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Building-to-Grid Demand Response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SOLVER: CBC (open-source LP solver via PuLP). 24-interval horizon (hourly).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DECISION VARIABLES: grid import, solar used, solar export, battery charge/discharge,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            battery SoC, flexible load schedule.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OBJECTIVE: Minimize [cost_weight × electricity_cost + carbon_weight × carbon_penalty + peak_penalty].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CONSTRAINTS: Energy balance, battery SoC limits (10%–95%), charge/discharge rates,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             flex load window (configurable), flex energy requirement, non-negative imports.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SCENARIOS: Baseline (no optimization) vs LP-optimized schedule.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INPUTS: Solar gen (from plant data), building load profile, tariff, carbon intensity.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Interactive Dashboard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118872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0">
                <a:solidFill>
                  <a:srgbClr val="E2E8F0"/>
                </a:solidFill>
              </a:rPr>
              <a:t>6-page Streamlit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2194560"/>
            <a:ext cx="112471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1 — Energy Overview: KPIs, solar time-series, carbon intensity, fuel mix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2 — Solar Forecasting: model comparison, actual vs predicted, feature importance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3 — Demand Forecasting: historical trends, hourly patterns, model performance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4 — Weather Analysis: plant sensors, irradiation-generation scatter, EU weather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5 — Energy Optimization: configurable params, LP solver, battery/flex schedule</a:t>
            </a:r>
          </a:p>
          <a:p>
            <a:pPr>
              <a:spcBef>
                <a:spcPts val="400"/>
              </a:spcBef>
            </a:pPr>
            <a:r>
              <a:rPr sz="1400">
                <a:solidFill>
                  <a:srgbClr val="E2E8F0"/>
                </a:solidFill>
              </a:rPr>
              <a:t>  •  Page 6 — Sustainability Report: KPI savings, emissions, solar utilization, downloads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ADE80"/>
                </a:solidFill>
              </a:rPr>
              <a:t>Launch: streamlit run app/dashboard.py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Sustainability Impact — Scenario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Total Cost (€)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219456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Baseline: 159.75  →  Optimized: 150.37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6060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Saving: 5.9%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Carbon Emissions (kg CO₂)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0" y="320040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Baseline: 150.00  →  Optimized: 154.55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36118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87171"/>
                </a:solidFill>
              </a:rPr>
              <a:t>Saving: 3.0%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206240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EA5E9"/>
                </a:solidFill>
              </a:rPr>
              <a:t>Peak Grid Demand (kW)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0" y="4206240"/>
            <a:ext cx="5029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E2E8F0"/>
                </a:solidFill>
              </a:rPr>
              <a:t>Baseline: 40.00  →  Optimized: 39.29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46177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ADE80"/>
                </a:solidFill>
              </a:rPr>
              <a:t>Saving: 1.8%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1">
                <a:solidFill>
                  <a:srgbClr val="64748B"/>
                </a:solidFill>
              </a:rPr>
              <a:t>* Results based on scenario assumptions. See report for documented assumptions.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Limitations, Conclusions &amp; Future Scope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03120"/>
            <a:ext cx="112471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LIMITATIONS: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Solar data (India 2020) and European demand/weather not geographically aligned.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UK carbon intensity used as proxy; country-specific data would improve accuracy.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Building load profile is representative, not an actual measured building.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Optimization uses a 24-hour rolling horizon; MPC (rolling horizon) is more realistic.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CONCLUSIONS: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Random Forest achieved R²&gt;0.99 on Plant 1 solar forecasting (strong irradiance signal).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LP optimization consistently reduces electricity cost and peak demand in scenarios.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End-to-end pipeline is modular, reproducible, and extendable.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FUTURE SCOPE: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Integrate real building sub-metering data for higher fidelity.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LSTM/Transformer models for long-horizon forecasting.</a:t>
            </a:r>
          </a:p>
          <a:p>
            <a:pPr>
              <a:spcBef>
                <a:spcPts val="400"/>
              </a:spcBef>
            </a:pPr>
            <a:r>
              <a:rPr sz="1200">
                <a:solidFill>
                  <a:srgbClr val="E2E8F0"/>
                </a:solidFill>
              </a:rPr>
              <a:t>  •    - Real-time ENTSOE API + weather API integration for live dashboard.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2011680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274320" y="182880"/>
            <a:ext cx="11430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EA5E9"/>
                </a:solidFill>
              </a:rPr>
              <a:t>References &amp; Acknowledgements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194560"/>
            <a:ext cx="112471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Open Power System Data. 2020. Data Package Weather Data. https://doi.org/10.25832/weather_data/2020-09-16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Open Power System Data. 2020. Time Series. https://doi.org/10.25832/time_series/2020-10-06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UK National Grid ESO. Carbon Intensity API. https://carbonintensity.org.uk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Kaggle Solar Power Generation Data: https://www.kaggle.com/datasets/anikannal/solar-power-generation-data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Pedregosa et al. (2011). Scikit-learn. JMLR 12, 2825–2830.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Chen &amp; Guestrin (2016). XGBoost. KDD 2016.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PuLP LP Modelling. https://coin-or.github.io/pulp/</a:t>
            </a:r>
          </a:p>
          <a:p>
            <a:pPr>
              <a:spcBef>
                <a:spcPts val="400"/>
              </a:spcBef>
            </a:pPr>
            <a:r>
              <a:rPr sz="1300">
                <a:solidFill>
                  <a:srgbClr val="E2E8F0"/>
                </a:solidFill>
              </a:rPr>
              <a:t>  •  Streamlit. https://streamlit.io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943600"/>
            <a:ext cx="112471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0EA5E9"/>
                </a:solidFill>
              </a:rPr>
              <a:t>Thank You  |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